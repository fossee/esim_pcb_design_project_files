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DESIGN AND SIMULATION OF</a:t>
            </a:r>
            <a:br/>
            <a:r>
              <a:t>LM555 ASTABLE MULTIVIBRATOR</a:t>
            </a:r>
          </a:p>
          <a:p>
            <a:br/>
            <a:r>
              <a:t>Using KiCad EDA and Ngspice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3631" y="4023360"/>
            <a:ext cx="431425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Prepared by</a:t>
            </a:r>
            <a:r>
              <a:t>: </a:t>
            </a:r>
            <a:r>
              <a:rPr lang="en-US"/>
              <a:t>Arbaz Khan</a:t>
            </a:r>
            <a:br/>
            <a:r>
              <a:t>Electronics and Communication Engineering</a:t>
            </a:r>
            <a:br/>
            <a:r>
              <a:t>Academic Project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LM555 is used as an astable multivibrator (free-running oscillator).</a:t>
            </a:r>
          </a:p>
          <a:p>
            <a:pPr>
              <a:spcAft>
                <a:spcPts val="1200"/>
              </a:spcAft>
              <a:defRPr sz="2000"/>
            </a:pPr>
            <a:r>
              <a:t>The timing network continuously charges and discharges capacitor C1.</a:t>
            </a:r>
          </a:p>
          <a:p>
            <a:pPr>
              <a:spcAft>
                <a:spcPts val="1200"/>
              </a:spcAft>
              <a:defRPr sz="2000"/>
            </a:pPr>
            <a:r>
              <a:t>The output at Pin 3 switches between HIGH and LOW states.</a:t>
            </a:r>
          </a:p>
          <a:p>
            <a:pPr>
              <a:spcAft>
                <a:spcPts val="1200"/>
              </a:spcAft>
              <a:defRPr sz="2000"/>
            </a:pPr>
            <a:r>
              <a:t>An LED connected through a 330 Ω resistor indicates the output switching.</a:t>
            </a:r>
          </a:p>
          <a:p>
            <a:pPr>
              <a:spcAft>
                <a:spcPts val="1200"/>
              </a:spcAft>
              <a:defRPr sz="2000"/>
            </a:pPr>
            <a:r>
              <a:t>The complete design was developed in KiCad and prepared for PCB fabrication.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an LM555 astable multivibrator using a 5 V supply.</a:t>
            </a:r>
          </a:p>
          <a:p>
            <a:pPr>
              <a:spcAft>
                <a:spcPts val="1200"/>
              </a:spcAft>
              <a:defRPr sz="2000"/>
            </a:pPr>
            <a:r>
              <a:t>Simulate the circuit using KiCad/ngspice.</a:t>
            </a:r>
          </a:p>
          <a:p>
            <a:pPr>
              <a:spcAft>
                <a:spcPts val="1200"/>
              </a:spcAft>
              <a:defRPr sz="2000"/>
            </a:pPr>
            <a:r>
              <a:t>Observe the time-domain output.</a:t>
            </a:r>
          </a:p>
          <a:p>
            <a:pPr>
              <a:spcAft>
                <a:spcPts val="1200"/>
              </a:spcAft>
              <a:defRPr sz="2000"/>
            </a:pPr>
            <a:r>
              <a:t>Design and route a through-hole PCB.</a:t>
            </a:r>
          </a:p>
          <a:p>
            <a:pPr>
              <a:spcAft>
                <a:spcPts val="1200"/>
              </a:spcAft>
              <a:defRPr sz="2000"/>
            </a:pPr>
            <a:r>
              <a:t>Verify the PCB using Design Rules Checker (DRC).</a:t>
            </a:r>
          </a:p>
          <a:p>
            <a:pPr>
              <a:spcAft>
                <a:spcPts val="1200"/>
              </a:spcAft>
              <a:defRPr sz="2000"/>
            </a:pPr>
            <a:r>
              <a:t>Generate Gerber and Excellon drill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Project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Schematic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55064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10512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SPICE</a:t>
            </a:r>
          </a:p>
          <a:p>
            <a:pPr algn="ctr">
              <a:defRPr sz="1300" b="1"/>
            </a:pPr>
            <a:r>
              <a:t>Simulation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54096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9544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Footprint</a:t>
            </a:r>
          </a:p>
          <a:p>
            <a:pPr algn="ctr">
              <a:defRPr sz="1300" b="1"/>
            </a:pPr>
            <a:r>
              <a:t>Assignment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53128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08576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PCB Layout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07608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Routing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51192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06640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DRC</a:t>
            </a:r>
          </a:p>
          <a:p>
            <a:pPr algn="ctr">
              <a:defRPr sz="1300" b="1"/>
            </a:pPr>
            <a:r>
              <a:t>Verification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50224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05672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3D View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049255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04704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Gerber</a:t>
            </a:r>
          </a:p>
          <a:p>
            <a:pPr algn="ctr">
              <a:defRPr sz="1300" b="1"/>
            </a:pPr>
            <a: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49039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Complete flow: Design → Simulate → Build PCB → Verify → Prepare for Manufacturing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Circuit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1920240"/>
            <a:ext cx="292608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LM555xN</a:t>
            </a:r>
          </a:p>
          <a:p>
            <a:pPr algn="ctr">
              <a:defRPr sz="1600"/>
            </a:pPr>
            <a:endParaRPr/>
          </a:p>
          <a:p>
            <a:pPr algn="ctr">
              <a:defRPr sz="1600"/>
            </a:pPr>
            <a:r>
              <a:t>Pin 8 → +5 V</a:t>
            </a:r>
          </a:p>
          <a:p>
            <a:pPr algn="ctr">
              <a:defRPr sz="1600"/>
            </a:pPr>
            <a:r>
              <a:t>Pin 4 → +5 V</a:t>
            </a:r>
          </a:p>
          <a:p>
            <a:pPr algn="ctr">
              <a:defRPr sz="1600"/>
            </a:pPr>
            <a:r>
              <a:t>Pin 1 → GND</a:t>
            </a:r>
          </a:p>
          <a:p>
            <a:pPr algn="ctr">
              <a:defRPr sz="1600"/>
            </a:pPr>
            <a:r>
              <a:t>Pin 5 → 10 nF → GND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Timing network</a:t>
            </a:r>
          </a:p>
          <a:p>
            <a:pPr>
              <a:defRPr sz="1800"/>
            </a:pPr>
            <a:r>
              <a:t>R1 = 1 kΩ</a:t>
            </a:r>
          </a:p>
          <a:p>
            <a:pPr>
              <a:defRPr sz="1800"/>
            </a:pPr>
            <a:r>
              <a:t>R2 = 47 kΩ</a:t>
            </a:r>
          </a:p>
          <a:p>
            <a:pPr>
              <a:defRPr sz="1800"/>
            </a:pPr>
            <a:r>
              <a:t>C1 = 10 µF</a:t>
            </a:r>
          </a:p>
          <a:p>
            <a:pPr>
              <a:defRPr sz="1800"/>
            </a:pPr>
            <a:r>
              <a:t>Pins 2 and 6 share timing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Output</a:t>
            </a:r>
          </a:p>
          <a:p>
            <a:pPr>
              <a:defRPr sz="1800"/>
            </a:pPr>
            <a:r>
              <a:t>Pin 3 → R3 = 330 Ω</a:t>
            </a:r>
          </a:p>
          <a:p>
            <a:pPr>
              <a:defRPr sz="1800"/>
            </a:pPr>
            <a:r>
              <a:t>→ LED → GND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J1: +5 V / GND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Main Components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LM555xN</a:t>
            </a:r>
          </a:p>
          <a:p>
            <a:pPr algn="ctr">
              <a:defRPr sz="1300"/>
            </a:pPr>
            <a:r>
              <a:t>U101</a:t>
            </a:r>
          </a:p>
          <a:p>
            <a:pPr algn="ctr">
              <a:defRPr sz="1300"/>
            </a:pPr>
            <a:r>
              <a:t>8-pin timer 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 kΩ</a:t>
            </a:r>
          </a:p>
          <a:p>
            <a:pPr algn="ctr">
              <a:defRPr sz="1300"/>
            </a:pPr>
            <a:r>
              <a:t>R101</a:t>
            </a:r>
          </a:p>
          <a:p>
            <a:pPr algn="ctr">
              <a:defRPr sz="1300"/>
            </a:pPr>
            <a:r>
              <a:t>Timing resistor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47 kΩ</a:t>
            </a:r>
          </a:p>
          <a:p>
            <a:pPr algn="ctr">
              <a:defRPr sz="1300"/>
            </a:pPr>
            <a:r>
              <a:t>R102</a:t>
            </a:r>
          </a:p>
          <a:p>
            <a:pPr algn="ctr">
              <a:defRPr sz="1300"/>
            </a:pPr>
            <a:r>
              <a:t>Timing resistor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330 Ω</a:t>
            </a:r>
          </a:p>
          <a:p>
            <a:pPr algn="ctr">
              <a:defRPr sz="1300"/>
            </a:pPr>
            <a:r>
              <a:t>R103</a:t>
            </a:r>
          </a:p>
          <a:p>
            <a:pPr algn="ctr">
              <a:defRPr sz="1300"/>
            </a:pPr>
            <a:r>
              <a:t>LED current limiter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10 µF</a:t>
            </a:r>
          </a:p>
          <a:p>
            <a:pPr algn="ctr">
              <a:defRPr sz="1300"/>
            </a:pPr>
            <a:r>
              <a:t>C101</a:t>
            </a:r>
          </a:p>
          <a:p>
            <a:pPr algn="ctr">
              <a:defRPr sz="1300"/>
            </a:pPr>
            <a:r>
              <a:t>Timing capacitor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10 nF</a:t>
            </a:r>
          </a:p>
          <a:p>
            <a:pPr algn="ctr">
              <a:defRPr sz="1300"/>
            </a:pPr>
            <a:r>
              <a:t>C102</a:t>
            </a:r>
          </a:p>
          <a:p>
            <a:pPr algn="ctr">
              <a:defRPr sz="1300"/>
            </a:pPr>
            <a:r>
              <a:t>Control-voltage bypass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LED</a:t>
            </a:r>
          </a:p>
          <a:p>
            <a:pPr algn="ctr">
              <a:defRPr sz="1300"/>
            </a:pPr>
            <a:r>
              <a:t>D101</a:t>
            </a:r>
          </a:p>
          <a:p>
            <a:pPr algn="ctr">
              <a:defRPr sz="1300"/>
            </a:pPr>
            <a:r>
              <a:t>Output indicator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2-pin connector</a:t>
            </a:r>
          </a:p>
          <a:p>
            <a:pPr algn="ctr">
              <a:defRPr sz="1300"/>
            </a:pPr>
            <a:r>
              <a:t>J1</a:t>
            </a:r>
          </a:p>
          <a:p>
            <a:pPr algn="ctr">
              <a:defRPr sz="1300"/>
            </a:pPr>
            <a:r>
              <a:t>+5 V / GND input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C1 charges through R1 and R2.</a:t>
            </a:r>
          </a:p>
          <a:p>
            <a:pPr>
              <a:spcAft>
                <a:spcPts val="1200"/>
              </a:spcAft>
              <a:defRPr sz="2000"/>
            </a:pPr>
            <a:r>
              <a:t>2. When C1 reaches the upper threshold, the 555 changes state.</a:t>
            </a:r>
          </a:p>
          <a:p>
            <a:pPr>
              <a:spcAft>
                <a:spcPts val="1200"/>
              </a:spcAft>
              <a:defRPr sz="2000"/>
            </a:pPr>
            <a:r>
              <a:t>3. The discharge path turns on and C1 discharges through R2.</a:t>
            </a:r>
          </a:p>
          <a:p>
            <a:pPr>
              <a:spcAft>
                <a:spcPts val="1200"/>
              </a:spcAft>
              <a:defRPr sz="2000"/>
            </a:pPr>
            <a:r>
              <a:t>4. When C1 reaches the lower threshold, the 555 changes state again.</a:t>
            </a:r>
          </a:p>
          <a:p>
            <a:pPr>
              <a:spcAft>
                <a:spcPts val="1200"/>
              </a:spcAft>
              <a:defRPr sz="2000"/>
            </a:pPr>
            <a:r>
              <a:t>5. The process repeats continuously, producing a periodic output.</a:t>
            </a:r>
          </a:p>
          <a:p>
            <a:pPr>
              <a:spcAft>
                <a:spcPts val="1200"/>
              </a:spcAft>
              <a:defRPr sz="2000"/>
            </a:pPr>
            <a:r>
              <a:t>6. The LED indicates the HIGH/LOW switching at Pin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Components and Design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U101: LM555xN / NE555, DIP-8</a:t>
            </a:r>
          </a:p>
          <a:p>
            <a:pPr>
              <a:spcAft>
                <a:spcPts val="1200"/>
              </a:spcAft>
              <a:defRPr sz="2000"/>
            </a:pPr>
            <a:r>
              <a:t>R1 = 1 kΩ, R2 = 47 kΩ, R3 = 330 Ω</a:t>
            </a:r>
          </a:p>
          <a:p>
            <a:pPr>
              <a:spcAft>
                <a:spcPts val="1200"/>
              </a:spcAft>
              <a:defRPr sz="2000"/>
            </a:pPr>
            <a:r>
              <a:t>C1 = 10 µF, C2 = 10 nF</a:t>
            </a:r>
          </a:p>
          <a:p>
            <a:pPr>
              <a:spcAft>
                <a:spcPts val="1200"/>
              </a:spcAft>
              <a:defRPr sz="2000"/>
            </a:pPr>
            <a:r>
              <a:t>D101: 5 mm LED; J1: 2-pin +5 V/GND connector</a:t>
            </a:r>
          </a:p>
          <a:p>
            <a:pPr>
              <a:spcAft>
                <a:spcPts val="1200"/>
              </a:spcAft>
              <a:defRPr sz="2000"/>
            </a:pPr>
            <a:r>
              <a:t>Astable period: T = 0.693(R1 + 2R2)C1</a:t>
            </a:r>
          </a:p>
          <a:p>
            <a:pPr>
              <a:spcAft>
                <a:spcPts val="1200"/>
              </a:spcAft>
              <a:defRPr sz="2000"/>
            </a:pPr>
            <a:r>
              <a:t>Calculated T ≈ 0.659 s → f ≈ 1.52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SPICE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KiCad schematic was simulated using ngspice.</a:t>
            </a:r>
          </a:p>
          <a:p>
            <a:pPr>
              <a:spcAft>
                <a:spcPts val="1200"/>
              </a:spcAft>
              <a:defRPr sz="2000"/>
            </a:pPr>
            <a:r>
              <a:t>An external NE555 SPICE model was loaded and mapped to the 8-pin symbol.</a:t>
            </a:r>
          </a:p>
          <a:p>
            <a:pPr>
              <a:spcAft>
                <a:spcPts val="1200"/>
              </a:spcAft>
              <a:defRPr sz="2000"/>
            </a:pPr>
            <a:r>
              <a:t>LED simulation used a diode model.</a:t>
            </a:r>
          </a:p>
          <a:p>
            <a:pPr>
              <a:spcAft>
                <a:spcPts val="1200"/>
              </a:spcAft>
              <a:defRPr sz="2000"/>
            </a:pPr>
            <a:r>
              <a:t>Transient analysis: 1 ms time step, 2 s final time.</a:t>
            </a:r>
          </a:p>
          <a:p>
            <a:pPr>
              <a:spcAft>
                <a:spcPts val="1200"/>
              </a:spcAft>
              <a:defRPr sz="2000"/>
            </a:pPr>
            <a:r>
              <a:t>Startup conditions were handled during simulation testing.</a:t>
            </a:r>
          </a:p>
          <a:p>
            <a:pPr>
              <a:spcAft>
                <a:spcPts val="1200"/>
              </a:spcAft>
              <a:defRPr sz="2000"/>
            </a:pPr>
            <a:r>
              <a:t>Expected output: square-like waveform at Pin 3 and charging/discharging waveform at the timing node.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PCB 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Schematic → footprint assignment → Update PCB from Schematic.</a:t>
            </a:r>
          </a:p>
          <a:p>
            <a:pPr>
              <a:spcAft>
                <a:spcPts val="1200"/>
              </a:spcAft>
              <a:defRPr sz="2000"/>
            </a:pPr>
            <a:r>
              <a:t>Components placed with timing components close to the 555.</a:t>
            </a:r>
          </a:p>
          <a:p>
            <a:pPr>
              <a:spcAft>
                <a:spcPts val="1200"/>
              </a:spcAft>
              <a:defRPr sz="2000"/>
            </a:pPr>
            <a:r>
              <a:t>Closed rectangular Edge.Cuts board outline created.</a:t>
            </a:r>
          </a:p>
          <a:p>
            <a:pPr>
              <a:spcAft>
                <a:spcPts val="1200"/>
              </a:spcAft>
              <a:defRPr sz="2000"/>
            </a:pPr>
            <a:r>
              <a:t>All PCB connections routed.</a:t>
            </a:r>
          </a:p>
          <a:p>
            <a:pPr>
              <a:spcAft>
                <a:spcPts val="1200"/>
              </a:spcAft>
              <a:defRPr sz="2000"/>
            </a:pPr>
            <a:r>
              <a:t>2-pin power connector added for physical +5 V and GND input.</a:t>
            </a:r>
          </a:p>
          <a:p>
            <a:pPr>
              <a:spcAft>
                <a:spcPts val="1200"/>
              </a:spcAft>
              <a:defRPr sz="2000"/>
            </a:pPr>
            <a:r>
              <a:t>Final board inspected in KiCad 3D Viewer.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Tip: replace/add your actual KiCad screenshots on this slide for the final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PCB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Rules Checker (DRC) was run after routing.</a:t>
            </a:r>
          </a:p>
          <a:p>
            <a:pPr>
              <a:spcAft>
                <a:spcPts val="1200"/>
              </a:spcAft>
              <a:defRPr sz="2000"/>
            </a:pPr>
            <a:r>
              <a:t>Final verification: 0 violations.</a:t>
            </a:r>
          </a:p>
          <a:p>
            <a:pPr>
              <a:spcAft>
                <a:spcPts val="1200"/>
              </a:spcAft>
              <a:defRPr sz="2000"/>
            </a:pPr>
            <a:r>
              <a:t>Unconnected items: 0.</a:t>
            </a:r>
          </a:p>
          <a:p>
            <a:pPr>
              <a:spcAft>
                <a:spcPts val="1200"/>
              </a:spcAft>
              <a:defRPr sz="2000"/>
            </a:pPr>
            <a:r>
              <a:t>PCB outline was corrected to a single rectangular Edge.Cuts boundary.</a:t>
            </a:r>
          </a:p>
          <a:p>
            <a:pPr>
              <a:spcAft>
                <a:spcPts val="1200"/>
              </a:spcAft>
              <a:defRPr sz="2000"/>
            </a:pPr>
            <a:r>
              <a:t>Final 3D view confirmed component placement and board geometry.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Manufacturing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Gerber files generated from the completed PCB.</a:t>
            </a:r>
          </a:p>
          <a:p>
            <a:pPr>
              <a:spcAft>
                <a:spcPts val="1200"/>
              </a:spcAft>
              <a:defRPr sz="2000"/>
            </a:pPr>
            <a:r>
              <a:t>F.Cu and B.Cu — copper layers.</a:t>
            </a:r>
          </a:p>
          <a:p>
            <a:pPr>
              <a:spcAft>
                <a:spcPts val="1200"/>
              </a:spcAft>
              <a:defRPr sz="2000"/>
            </a:pPr>
            <a:r>
              <a:t>F.Mask and B.Mask — solder-mask layers.</a:t>
            </a:r>
          </a:p>
          <a:p>
            <a:pPr>
              <a:spcAft>
                <a:spcPts val="1200"/>
              </a:spcAft>
              <a:defRPr sz="2000"/>
            </a:pPr>
            <a:r>
              <a:t>F.Silkscreen and B.Silkscreen — component markings.</a:t>
            </a:r>
          </a:p>
          <a:p>
            <a:pPr>
              <a:spcAft>
                <a:spcPts val="1200"/>
              </a:spcAft>
              <a:defRPr sz="2000"/>
            </a:pPr>
            <a:r>
              <a:t>Edge.Cuts — board outline.</a:t>
            </a:r>
          </a:p>
          <a:p>
            <a:pPr>
              <a:spcAft>
                <a:spcPts val="1200"/>
              </a:spcAft>
              <a:defRPr sz="2000"/>
            </a:pPr>
            <a:r>
              <a:t>Excellon drill file — through-hole drill locations.</a:t>
            </a:r>
          </a:p>
          <a:p>
            <a:pPr>
              <a:spcAft>
                <a:spcPts val="1200"/>
              </a:spcAft>
              <a:defRPr sz="2000"/>
            </a:pPr>
            <a:r>
              <a:t>Files can be packaged as a ZIP for PCB fabrication.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Applications, Advantages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Applications: LED flashers, indicators, clock/pulse generation and timing circuits.</a:t>
            </a:r>
          </a:p>
          <a:p>
            <a:pPr>
              <a:spcAft>
                <a:spcPts val="1200"/>
              </a:spcAft>
              <a:defRPr sz="2000"/>
            </a:pPr>
            <a:r>
              <a:t>Advantages: simple, low-cost, few external components and easy to prototype.</a:t>
            </a:r>
          </a:p>
          <a:p>
            <a:pPr>
              <a:spcAft>
                <a:spcPts val="1200"/>
              </a:spcAft>
              <a:defRPr sz="2000"/>
            </a:pPr>
            <a:r>
              <a:t>Frequency can be changed by changing R1, R2 or C1.</a:t>
            </a:r>
          </a:p>
          <a:p>
            <a:pPr>
              <a:spcAft>
                <a:spcPts val="1200"/>
              </a:spcAft>
              <a:defRPr sz="2000"/>
            </a:pPr>
            <a:r>
              <a:t>Limitations: frequency depends on component tolerances.</a:t>
            </a:r>
          </a:p>
          <a:p>
            <a:pPr>
              <a:spcAft>
                <a:spcPts val="1200"/>
              </a:spcAft>
              <a:defRPr sz="2000"/>
            </a:pPr>
            <a:r>
              <a:t>LED is an indicator and is not intended to drive a high-power load directly.</a:t>
            </a:r>
          </a:p>
          <a:p>
            <a:pPr>
              <a:spcAft>
                <a:spcPts val="1200"/>
              </a:spcAft>
              <a:defRPr sz="2000"/>
            </a:pPr>
            <a:r>
              <a:t>Simulation behavior depends on the selected NE555 SPICE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LM555 astable multivibrator was designed and simulated successfully as a KiCad project.</a:t>
            </a:r>
          </a:p>
          <a:p>
            <a:pPr>
              <a:spcAft>
                <a:spcPts val="1200"/>
              </a:spcAft>
              <a:defRPr sz="2000"/>
            </a:pPr>
            <a:r>
              <a:t>The PCB was placed, routed and verified with DRC.</a:t>
            </a:r>
          </a:p>
          <a:p>
            <a:pPr>
              <a:spcAft>
                <a:spcPts val="1200"/>
              </a:spcAft>
              <a:defRPr sz="2000"/>
            </a:pPr>
            <a:r>
              <a:t>Final DRC result: 0 violations and 0 unconnected items.</a:t>
            </a:r>
          </a:p>
          <a:p>
            <a:pPr>
              <a:spcAft>
                <a:spcPts val="1200"/>
              </a:spcAft>
              <a:defRPr sz="2000"/>
            </a:pPr>
            <a:r>
              <a:t>The board was checked in the 3D Viewer.</a:t>
            </a:r>
          </a:p>
          <a:p>
            <a:pPr>
              <a:spcAft>
                <a:spcPts val="1200"/>
              </a:spcAft>
              <a:defRPr sz="2000"/>
            </a:pPr>
            <a:r>
              <a:t>Gerber and drill files were generated for possible fabrication.</a:t>
            </a:r>
          </a:p>
          <a:p>
            <a:pPr>
              <a:spcAft>
                <a:spcPts val="1200"/>
              </a:spcAft>
              <a:defRPr sz="2000"/>
            </a:pPr>
            <a:r>
              <a:t>The project demonstrates a complete schematic-to-PCB design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6675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Thank You</a:t>
            </a:r>
          </a:p>
          <a:p>
            <a:pPr algn="ctr">
              <a:defRPr sz="22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882</Words>
  <Application>Microsoft Office PowerPoint</Application>
  <PresentationFormat>Widescreen</PresentationFormat>
  <Paragraphs>145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PUSHKAR PADGHAN</dc:creator>
  <cp:keywords/>
  <dc:description>generated using python-pptx</dc:description>
  <cp:lastModifiedBy>PUSHKAR PADGHAN</cp:lastModifiedBy>
  <cp:revision>2</cp:revision>
  <dcterms:created xsi:type="dcterms:W3CDTF">2013-01-27T09:14:16Z</dcterms:created>
  <dcterms:modified xsi:type="dcterms:W3CDTF">2026-08-29T17:22:22Z</dcterms:modified>
  <cp:category/>
</cp:coreProperties>
</file>